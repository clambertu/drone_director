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ac63d9f1c48d6" /><Relationship Type="http://schemas.openxmlformats.org/officeDocument/2006/relationships/extended-properties" Target="/docProps/app.xml" Id="R2c4ba9490c7e4104" /><Relationship Type="http://schemas.openxmlformats.org/officeDocument/2006/relationships/officeDocument" Target="/ppt/presentation.xml" Id="Rf41657defb77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394b4e3db47dd"/>
  </p:sldMasterIdLst>
  <p:notesMasterIdLst>
    <p:notesMasterId xmlns:r="http://schemas.openxmlformats.org/officeDocument/2006/relationships" r:id="R19895169b9c5443d"/>
  </p:notesMasterIdLst>
  <p:sldIdLst>
    <p:sldId xmlns:r="http://schemas.openxmlformats.org/officeDocument/2006/relationships" id="256" r:id="R3190f4b31a344b9d"/>
    <p:sldId xmlns:r="http://schemas.openxmlformats.org/officeDocument/2006/relationships" id="257" r:id="Ra2b35281072141f7"/>
    <p:sldId xmlns:r="http://schemas.openxmlformats.org/officeDocument/2006/relationships" id="258" r:id="R5eade6cb200f4f2d"/>
    <p:sldId xmlns:r="http://schemas.openxmlformats.org/officeDocument/2006/relationships" id="259" r:id="R1777d17933c44ca1"/>
    <p:sldId xmlns:r="http://schemas.openxmlformats.org/officeDocument/2006/relationships" id="260" r:id="Re382639f18444a0e"/>
    <p:sldId xmlns:r="http://schemas.openxmlformats.org/officeDocument/2006/relationships" id="261" r:id="R13018380667642bc"/>
    <p:sldId xmlns:r="http://schemas.openxmlformats.org/officeDocument/2006/relationships" id="262" r:id="R0d70e4e8214a4b17"/>
    <p:sldId xmlns:r="http://schemas.openxmlformats.org/officeDocument/2006/relationships" id="263" r:id="R46f6b6f3673a4e24"/>
    <p:sldId xmlns:r="http://schemas.openxmlformats.org/officeDocument/2006/relationships" id="264" r:id="R36214866e1864fa5"/>
    <p:sldId xmlns:r="http://schemas.openxmlformats.org/officeDocument/2006/relationships" id="265" r:id="Rda089c0ba6a143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8b4c37b114856" /><Relationship Type="http://schemas.openxmlformats.org/officeDocument/2006/relationships/slideMaster" Target="/ppt/slideMasters/slideMaster1.xml" Id="Ra89394b4e3db47dd" /><Relationship Type="http://schemas.openxmlformats.org/officeDocument/2006/relationships/notesMaster" Target="/ppt/notesMasters/notesMaster1.xml" Id="R19895169b9c5443d" /><Relationship Type="http://schemas.openxmlformats.org/officeDocument/2006/relationships/presProps" Target="/ppt/presProps.xml" Id="R13640ea9ae4b40fe" /><Relationship Type="http://schemas.openxmlformats.org/officeDocument/2006/relationships/tableStyles" Target="/ppt/tableStyles.xml" Id="Rab4ec487f4504580" /><Relationship Type="http://schemas.openxmlformats.org/officeDocument/2006/relationships/slide" Target="/ppt/slides/slide1.xml" Id="R3190f4b31a344b9d" /><Relationship Type="http://schemas.openxmlformats.org/officeDocument/2006/relationships/slide" Target="/ppt/slides/slide2.xml" Id="Ra2b35281072141f7" /><Relationship Type="http://schemas.openxmlformats.org/officeDocument/2006/relationships/slide" Target="/ppt/slides/slide3.xml" Id="R5eade6cb200f4f2d" /><Relationship Type="http://schemas.openxmlformats.org/officeDocument/2006/relationships/slide" Target="/ppt/slides/slide4.xml" Id="R1777d17933c44ca1" /><Relationship Type="http://schemas.openxmlformats.org/officeDocument/2006/relationships/slide" Target="/ppt/slides/slide5.xml" Id="Re382639f18444a0e" /><Relationship Type="http://schemas.openxmlformats.org/officeDocument/2006/relationships/slide" Target="/ppt/slides/slide6.xml" Id="R13018380667642bc" /><Relationship Type="http://schemas.openxmlformats.org/officeDocument/2006/relationships/slide" Target="/ppt/slides/slide7.xml" Id="R0d70e4e8214a4b17" /><Relationship Type="http://schemas.openxmlformats.org/officeDocument/2006/relationships/slide" Target="/ppt/slides/slide8.xml" Id="R46f6b6f3673a4e24" /><Relationship Type="http://schemas.openxmlformats.org/officeDocument/2006/relationships/slide" Target="/ppt/slides/slide9.xml" Id="R36214866e1864fa5" /><Relationship Type="http://schemas.openxmlformats.org/officeDocument/2006/relationships/slide" Target="/ppt/slides/slide10.xml" Id="Rda089c0ba6a143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68efb8a87141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fa61498154f38" /><Relationship Type="http://schemas.openxmlformats.org/officeDocument/2006/relationships/notesMaster" Target="/ppt/notesMasters/notesMaster1.xml" Id="R67926967ac2449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6758b5ede4091" /><Relationship Type="http://schemas.openxmlformats.org/officeDocument/2006/relationships/notesMaster" Target="/ppt/notesMasters/notesMaster1.xml" Id="R738f5eff94ed42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d4b98021941dd" /><Relationship Type="http://schemas.openxmlformats.org/officeDocument/2006/relationships/notesMaster" Target="/ppt/notesMasters/notesMaster1.xml" Id="R65aa2b31cb9749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3242251a264376" /><Relationship Type="http://schemas.openxmlformats.org/officeDocument/2006/relationships/notesMaster" Target="/ppt/notesMasters/notesMaster1.xml" Id="R3f58eef4b45a45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295871b744a65" /><Relationship Type="http://schemas.openxmlformats.org/officeDocument/2006/relationships/notesMaster" Target="/ppt/notesMasters/notesMaster1.xml" Id="R0d2b09952f8049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2528b43dd447f8" /><Relationship Type="http://schemas.openxmlformats.org/officeDocument/2006/relationships/notesMaster" Target="/ppt/notesMasters/notesMaster1.xml" Id="R5728f2cdb9d045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8b3b4f572a4906" /><Relationship Type="http://schemas.openxmlformats.org/officeDocument/2006/relationships/notesMaster" Target="/ppt/notesMasters/notesMaster1.xml" Id="R9b26dbf6ef584c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440e1c23794fc4" /><Relationship Type="http://schemas.openxmlformats.org/officeDocument/2006/relationships/notesMaster" Target="/ppt/notesMasters/notesMaster1.xml" Id="Ra202a730791d44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72bc5b583440b" /><Relationship Type="http://schemas.openxmlformats.org/officeDocument/2006/relationships/notesMaster" Target="/ppt/notesMasters/notesMaster1.xml" Id="R399b8c4a155245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59cefd6002494b" /><Relationship Type="http://schemas.openxmlformats.org/officeDocument/2006/relationships/notesMaster" Target="/ppt/notesMasters/notesMaster1.xml" Id="R8622e78dd2fb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项目名称与定位据 README.md。封面主视觉为本项目答辩专用概念插画。</a:t>
            </a:r>
          </a:p>
          <a:p xmlns:a="http://schemas.openxmlformats.org/drawingml/2006/main">
            <a:r>
              <a:t>项目核心算法是可解释的加权 A*、连续轨迹冲突检测与规则解脱；当前没有已训练的 GNN 或强化学习模型。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项目约束与路径规划输入输出见 docs/path-planning.md；冲突阈值与连续轨迹模型见 algorithms/conflict_detection/models.py。距离、风险、拥堵、能耗与气象不是同一量纲，因此通过显式权重比较；建筑、空域与容量则作为硬约束处理。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闭环依据 README.md 与 docs/path-planning.md：调用方在一致状态锁下提供快照；规划过程不预留容量，状态改变后以新快照重规划。冲突规则模块对候选轨迹逐架复检，运行时按每个仿真步复核预测与实际运动。完整演示的事件时间线见 docs/demo.md。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代价公式、长度尺度、风险范围、拥堵利用率和默认权重见 algorithms/path_planning/astar.py 与 algorithms/path_planning/models.py，也详述于 docs/path-planning.md。能耗按距离加 4 倍爬升构成，仅用于比较，不可解释为瓦时或真实电池消耗。天气项按整条边的保守暴露量计算，重叠天气区取最大惩罚。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硬约束、3D 管制区、雷暴保守阻断、可采纳启发值证明和 max_distance_m 回退范围见 docs/path-planning.md 及 algorithms/path_planning/astar.py。w_distance 为 0 时启发值为 0，算法退化为 Dijkstra。航程约束下的多标签资源约束最短路尚未实现。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实现位于 algorithms/conflict_detection/continuous.py，阈值默认值见 algorithms/conflict_detection/models.py。算法先用每架机整段轨迹的保守扫掠包围盒做 broad phase，然后遍历时间重叠的轨迹段，在同步时间域中求水平距离二次不等式和垂直距离区间的交集，返回首次进入保护间隔的时间。飞机对的最坏枚举仍为 O(N²)；包围盒只减少精确计算量。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实现见 algorithms/conflict_resolution/rules.py 与 models.py。仿真器生成并先验证候选；resolver 独立确认时间连续性与预测窗完整性，然后把变更轨迹分别与其它每架飞机检测冲突，复杂度为 O(N) 每候选。安全是硬约束，延误、额外能耗与拥堵只用于对安全候选排序。无解返回 unresolved；引擎对无法安全解脱的情形暂停。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天气和空域覆盖撤离逻辑见 simulation/engine/planning.py；备降选点和机位预留见 algorithms/emergency/diversion.py。available_range 乘以 range_derating=0.55，剩余航程内筛选可达且未满载的备降点。案例数据来自 data/demo_report.json：70 秒故障事件选择 EB-8，规划距离 171.17 米；该 100 机报告最终记录 1 个真实备降抵达。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报告字段来自 data/demo_report.json，口径解释见 docs/demo.md。99 是到达原目的地的任务数；1 是真实备降，最终任务状态计为 diverted；30 是解脱次数；最终剩余预测/已检测冲突均为 0。容量缩减影响并改航 4 架，雷暴事件影响并改航 20 架。图中事件处理量不同类别分别按架数与解脱次数统计，不作为同一效率指标比较。结果依赖 seed、参数、机器与停止时刻，不是预设得分。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项目声明的边界和未来方向见 README.md 与 docs/path-planning.md。当前路径规划器、冲突检测器均定义可替换协议；但 GNN、PPO/MAPPO 等只属于后续可能方向，并未训练或在本项目中使用。成对冲突检测目前依靠保守包围盒降低精确运算量，候选飞机对枚举仍为 O(N²)。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cfdac1fb647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356e10dc8a4d40" /><Relationship Type="http://schemas.openxmlformats.org/officeDocument/2006/relationships/slideLayout" Target="/ppt/slideLayouts/slideLayout1.xml" Id="Rd9a9ab8f2bb9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9ab8f2bb9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eda9eaa2948e5" /><Relationship Type="http://schemas.openxmlformats.org/officeDocument/2006/relationships/image" Target="/ppt/media/image.png" Id="Reffab7a34dea4080" /><Relationship Type="http://schemas.openxmlformats.org/officeDocument/2006/relationships/notesSlide" Target="/ppt/notesSlides/notesSlide1.xml" Id="R686ca8d30069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fcd7740ee4d4c" /><Relationship Type="http://schemas.openxmlformats.org/officeDocument/2006/relationships/notesSlide" Target="/ppt/notesSlides/notesSlide2.xml" Id="R176203e11029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1ee42fd534498" /><Relationship Type="http://schemas.openxmlformats.org/officeDocument/2006/relationships/notesSlide" Target="/ppt/notesSlides/notesSlide3.xml" Id="Re592f143056745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4804456014dea" /><Relationship Type="http://schemas.openxmlformats.org/officeDocument/2006/relationships/notesSlide" Target="/ppt/notesSlides/notesSlide4.xml" Id="R38ba53925c334d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2a1a21154b80" /><Relationship Type="http://schemas.openxmlformats.org/officeDocument/2006/relationships/notesSlide" Target="/ppt/notesSlides/notesSlide5.xml" Id="R7fe55fd6ebfd4c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90dd15f17404d" /><Relationship Type="http://schemas.openxmlformats.org/officeDocument/2006/relationships/notesSlide" Target="/ppt/notesSlides/notesSlide6.xml" Id="R8281503ad8ce4f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638948464438b" /><Relationship Type="http://schemas.openxmlformats.org/officeDocument/2006/relationships/notesSlide" Target="/ppt/notesSlides/notesSlide7.xml" Id="Rbfb2318b631a4b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8f2a4e2924413" /><Relationship Type="http://schemas.openxmlformats.org/officeDocument/2006/relationships/notesSlide" Target="/ppt/notesSlides/notesSlide8.xml" Id="Re28f324e42c84a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566c8888847e0" /><Relationship Type="http://schemas.openxmlformats.org/officeDocument/2006/relationships/chart" Target="/ppt/slides/charts/chart1.xml" Id="Rd9f4b42c5bee4e2e" /><Relationship Type="http://schemas.openxmlformats.org/officeDocument/2006/relationships/notesSlide" Target="/ppt/notesSlides/notesSlide9.xml" Id="R73ef71e5d33b43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82330d7e44e06" /><Relationship Type="http://schemas.openxmlformats.org/officeDocument/2006/relationships/notesSlide" Target="/ppt/notesSlides/notesSlide10.xml" Id="R12d5e95f6f6a45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实际处理量</c:v>
          </c:tx>
          <c:spPr>
            <a:solidFill xmlns:a="http://schemas.openxmlformats.org/drawingml/2006/main">
              <a:srgbClr val="49D3E4"/>
            </a:solidFill>
          </c:spPr>
          <c:cat>
            <c:strRef>
              <c:f>'Chart Data'!$A$2:$A$4</c:f>
              <c:strCache>
                <c:ptCount val="3"/>
                <c:pt idx="0">
                  <c:v>拥堵改航（架）</c:v>
                </c:pt>
                <c:pt idx="1">
                  <c:v>雷暴改航（架）</c:v>
                </c:pt>
                <c:pt idx="2">
                  <c:v>冲突解脱（次）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3F7F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B40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B40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ab7a34dea40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B3779C-8BA2-415F-9E05-952AD910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天枢智航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08EFFEA-A1C3-451F-A13D-08A4307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7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7E8F6"/>
                </a:solidFill>
                <a:latin typeface="Microsoft YaHei"/>
                <a:ea typeface="Microsoft YaHei"/>
                <a:cs typeface="Microsoft YaHei"/>
              </a:rPr>
              <a:t>城市低空交通智能规划与自主协同系统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8067-072B-4A9B-B0D6-E8E2EB64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F7CE59DF-FFEC-4925-8448-0FA3427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大赛答辩  ·  算法设计与系统验证</a:t>
            </a:r>
          </a:p>
        </p:txBody>
      </p:sp>
    </p:spTree>
    <p:extLst>
      <p:ext uri="{BB962C8B-B14F-4D97-AF65-F5344CB8AC3E}">
        <p14:creationId xmlns:p14="http://schemas.microsoft.com/office/powerpoint/2010/main" val="1526632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A96929-E94A-48F8-8A14-109FC39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城市低空规划要同时回答三个问题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829FAD5-3233-4725-BAF7-CDB4C594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956EC30-EC8A-4D7C-A6AD-155697C0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5BF62B-44FE-4408-B294-D4D3A6A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哪条航路可飞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F90C91A-E553-4EFC-B2BD-7CE0A93D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3028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建筑与边界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临时管制空域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航路容量与雷暴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0E8F-BBA7-4DD7-A456-3CC59F22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8859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7A11AB3-E981-445C-8D03-A3558915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9CA44F6-92E1-4BA2-8965-FAF77DFC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00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怎样权衡路线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4216740-2AA0-4A15-B619-ACE2BAFB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3028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距离与风险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拥堵、气象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爬升能耗代理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6555E-9E2C-4C20-84B2-51095C7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859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7BE3A879-691E-4F40-A959-6158A15A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0A196849-73BE-4511-B033-00E71E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如何保持间隔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5414B1B-22C4-4B8B-915B-401A44B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3028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未来轨迹相交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同一时刻水平与垂直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间隔同时不足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1595B-4376-4944-AAAB-BDA1C6C4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77392E95-A5F1-42C1-BC36-6CB87730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设计原则：硬约束先定安全可行域，再优化路线代价，并对未来轨迹做全机复检</a:t>
            </a:r>
          </a:p>
        </p:txBody>
      </p:sp>
    </p:spTree>
    <p:extLst>
      <p:ext uri="{BB962C8B-B14F-4D97-AF65-F5344CB8AC3E}">
        <p14:creationId xmlns:p14="http://schemas.microsoft.com/office/powerpoint/2010/main" val="610328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65C-F154-4893-9C02-7156E20B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算法闭环：从环境快照到安全执行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0275B27-E50B-4C1D-99C2-0A7B8D76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2">
            <a:extLst xmlns:a="http://schemas.openxmlformats.org/drawingml/2006/main">
              <a:ext uri="{FF2B5EF4-FFF2-40B4-BE49-F238E27FC236}">
                <a16:creationId xmlns:a16="http://schemas.microsoft.com/office/drawing/2014/main" id="{63817621-22B9-4D77-8287-D21262A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C620AA24-C9B6-4B5C-BE55-85C4DD2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一致快照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81DA7C23-0AEC-45A2-A64B-91685463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航路图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天气与空域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当前流量</a:t>
            </a:r>
          </a:p>
        </p:txBody>
      </p:sp>
      <p:sp>
        <p:nvSpPr>
          <p:cNvPr id="6" name="text-15">
            <a:extLst xmlns:a="http://schemas.openxmlformats.org/drawingml/2006/main">
              <a:ext uri="{FF2B5EF4-FFF2-40B4-BE49-F238E27FC236}">
                <a16:creationId xmlns:a16="http://schemas.microsoft.com/office/drawing/2014/main" id="{5C8D7E93-1024-4FA0-9886-4B62060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F825D0A0-C32A-46FC-9EA6-300E7A8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AF95388D-59EB-4E13-8297-49426838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硬约束筛边</a:t>
            </a:r>
          </a:p>
        </p:txBody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9A18759A-FB11-40D1-BEBA-0FD5E77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几何碰撞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容量与封闭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雷暴、管制</a:t>
            </a:r>
          </a:p>
        </p:txBody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D4247FFD-B5F9-4D8B-98F7-DB8B8813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4D7553B8-F89D-4806-99C9-3178CFA2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21">
            <a:extLst xmlns:a="http://schemas.openxmlformats.org/drawingml/2006/main">
              <a:ext uri="{FF2B5EF4-FFF2-40B4-BE49-F238E27FC236}">
                <a16:creationId xmlns:a16="http://schemas.microsoft.com/office/drawing/2014/main" id="{58F3F4B2-EB49-4FA5-90F8-E2075FF5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加权 A*</a:t>
            </a:r>
          </a:p>
        </p:txBody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01EAFBC9-B815-431D-8C74-6F70E140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最小化五项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综合边代价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返回代价分解</a:t>
            </a:r>
          </a:p>
        </p:txBody>
      </p:sp>
      <p:sp>
        <p:nvSpPr>
          <p:cNvPr id="14" name="text-23">
            <a:extLst xmlns:a="http://schemas.openxmlformats.org/drawingml/2006/main">
              <a:ext uri="{FF2B5EF4-FFF2-40B4-BE49-F238E27FC236}">
                <a16:creationId xmlns:a16="http://schemas.microsoft.com/office/drawing/2014/main" id="{45020ED3-23D1-4B96-B281-22B49F00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-24">
            <a:extLst xmlns:a="http://schemas.openxmlformats.org/drawingml/2006/main">
              <a:ext uri="{FF2B5EF4-FFF2-40B4-BE49-F238E27FC236}">
                <a16:creationId xmlns:a16="http://schemas.microsoft.com/office/drawing/2014/main" id="{DADE97B8-A41D-4422-B7DE-961A0225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17C24C4D-6D5C-4C6C-B3E5-D19AF625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连续预测</a:t>
            </a:r>
          </a:p>
        </p:txBody>
      </p:sp>
      <p:sp>
        <p:nvSpPr>
          <p:cNvPr id="17" name="text-26">
            <a:extLst xmlns:a="http://schemas.openxmlformats.org/drawingml/2006/main">
              <a:ext uri="{FF2B5EF4-FFF2-40B4-BE49-F238E27FC236}">
                <a16:creationId xmlns:a16="http://schemas.microsoft.com/office/drawing/2014/main" id="{7ABF9B48-8711-4D0D-86A6-5384D97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分段线性轨迹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共同时间窗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精确检验间隔</a:t>
            </a:r>
          </a:p>
        </p:txBody>
      </p:sp>
      <p:sp>
        <p:nvSpPr>
          <p:cNvPr id="18" name="text-27">
            <a:extLst xmlns:a="http://schemas.openxmlformats.org/drawingml/2006/main">
              <a:ext uri="{FF2B5EF4-FFF2-40B4-BE49-F238E27FC236}">
                <a16:creationId xmlns:a16="http://schemas.microsoft.com/office/drawing/2014/main" id="{EA9948A0-5FE2-4113-9BE7-B9A10C5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text-28">
            <a:extLst xmlns:a="http://schemas.openxmlformats.org/drawingml/2006/main">
              <a:ext uri="{FF2B5EF4-FFF2-40B4-BE49-F238E27FC236}">
                <a16:creationId xmlns:a16="http://schemas.microsoft.com/office/drawing/2014/main" id="{6742FBC0-2D64-433F-AD8D-5C1B74D0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-29">
            <a:extLst xmlns:a="http://schemas.openxmlformats.org/drawingml/2006/main">
              <a:ext uri="{FF2B5EF4-FFF2-40B4-BE49-F238E27FC236}">
                <a16:creationId xmlns:a16="http://schemas.microsoft.com/office/drawing/2014/main" id="{BD113C28-F9CC-4C10-BF48-201F74DF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规则解脱</a:t>
            </a:r>
          </a:p>
        </p:txBody>
      </p:sp>
      <p:sp>
        <p:nvSpPr>
          <p:cNvPr id="21" name="text-30">
            <a:extLst xmlns:a="http://schemas.openxmlformats.org/drawingml/2006/main">
              <a:ext uri="{FF2B5EF4-FFF2-40B4-BE49-F238E27FC236}">
                <a16:creationId xmlns:a16="http://schemas.microsoft.com/office/drawing/2014/main" id="{1E78A5A0-D83B-40C4-976F-414F81A8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生成候选动作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逐机全机复检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按代价排序</a:t>
            </a:r>
          </a:p>
        </p:txBody>
      </p:sp>
      <p:sp>
        <p:nvSpPr>
          <p:cNvPr id="22" name="text-31">
            <a:extLst xmlns:a="http://schemas.openxmlformats.org/drawingml/2006/main">
              <a:ext uri="{FF2B5EF4-FFF2-40B4-BE49-F238E27FC236}">
                <a16:creationId xmlns:a16="http://schemas.microsoft.com/office/drawing/2014/main" id="{599F712E-80ED-4EEA-9C9A-DF112ACE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text-32">
            <a:extLst xmlns:a="http://schemas.openxmlformats.org/drawingml/2006/main">
              <a:ext uri="{FF2B5EF4-FFF2-40B4-BE49-F238E27FC236}">
                <a16:creationId xmlns:a16="http://schemas.microsoft.com/office/drawing/2014/main" id="{D4BD1D7E-528D-45FD-89A2-94C86AD1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-33">
            <a:extLst xmlns:a="http://schemas.openxmlformats.org/drawingml/2006/main">
              <a:ext uri="{FF2B5EF4-FFF2-40B4-BE49-F238E27FC236}">
                <a16:creationId xmlns:a16="http://schemas.microsoft.com/office/drawing/2014/main" id="{91E82A26-A0EE-4809-A250-91357C08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执行与复核</a:t>
            </a:r>
          </a:p>
        </p:txBody>
      </p:sp>
      <p:sp>
        <p:nvSpPr>
          <p:cNvPr id="25" name="text-34">
            <a:extLst xmlns:a="http://schemas.openxmlformats.org/drawingml/2006/main">
              <a:ext uri="{FF2B5EF4-FFF2-40B4-BE49-F238E27FC236}">
                <a16:creationId xmlns:a16="http://schemas.microsoft.com/office/drawing/2014/main" id="{91CFA2C5-079C-485F-950A-1BAA9A13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推进仿真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事件更新状态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重新规划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DD0B0-12D1-4A9B-A6BF-0CFB6564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14F41634-B045-430C-A475-F6C9212E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环境版本或任务状态变化</a:t>
            </a:r>
          </a:p>
        </p:txBody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0EF33AA4-BC08-470E-ABAB-78F30A22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93222950-21A5-4347-B95C-AD4A4673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读取新快照，再规划并复检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70A43748-6850-4FAE-BBFC-184FCBCE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规划器本身只读快照，不在搜索过程中修改流量或预留容量</a:t>
            </a:r>
          </a:p>
        </p:txBody>
      </p:sp>
    </p:spTree>
    <p:extLst>
      <p:ext uri="{BB962C8B-B14F-4D97-AF65-F5344CB8AC3E}">
        <p14:creationId xmlns:p14="http://schemas.microsoft.com/office/powerpoint/2010/main" val="665734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03D1F3-437C-4930-9454-D2FA8634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加权 A*：把运行目标写进每条边的代价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FF378B5-EDD0-40BD-BFC7-3D8AFBA3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1BB4FD9E-9147-4C11-B5C2-ECD85CA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J(e) = w_d·L + w_r·L·r + w_c·L·u + w_e·(L + 4H) + w_w·L·p_w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C8B54F8B-7090-4CDC-89FC-A361062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L：三维航段长度（km）；H：净爬升（km）；r：风险等级；u：流量 / 容量；p_w：气象暴露惩罚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CC726D99-6A49-4D2B-9F69-125EF61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E4E2BC11-8A11-4B5C-8861-8C414F7E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w_d · L</a:t>
            </a:r>
          </a:p>
        </p:txBody>
      </p:sp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37AC5BE4-F937-45C5-8554-1F2E8CB5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缩短路线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A9742-960B-4D35-95F4-C39E8587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4">
            <a:extLst xmlns:a="http://schemas.openxmlformats.org/drawingml/2006/main">
              <a:ext uri="{FF2B5EF4-FFF2-40B4-BE49-F238E27FC236}">
                <a16:creationId xmlns:a16="http://schemas.microsoft.com/office/drawing/2014/main" id="{951CE296-3AB0-4B0C-9A4D-3A62F12E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0" name="text-45">
            <a:extLst xmlns:a="http://schemas.openxmlformats.org/drawingml/2006/main">
              <a:ext uri="{FF2B5EF4-FFF2-40B4-BE49-F238E27FC236}">
                <a16:creationId xmlns:a16="http://schemas.microsoft.com/office/drawing/2014/main" id="{E980FF47-529A-49DB-A93D-8BD7B564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w_r · L · r</a:t>
            </a:r>
          </a:p>
        </p:txBody>
      </p:sp>
      <p:sp>
        <p:nvSpPr>
          <p:cNvPr id="11" name="text-46">
            <a:extLst xmlns:a="http://schemas.openxmlformats.org/drawingml/2006/main">
              <a:ext uri="{FF2B5EF4-FFF2-40B4-BE49-F238E27FC236}">
                <a16:creationId xmlns:a16="http://schemas.microsoft.com/office/drawing/2014/main" id="{40D1FC8E-112E-4B68-A88D-E945F4F8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按航程累计风险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AA44B-2C46-4BCB-A094-B3EE8F3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">
            <a:extLst xmlns:a="http://schemas.openxmlformats.org/drawingml/2006/main">
              <a:ext uri="{FF2B5EF4-FFF2-40B4-BE49-F238E27FC236}">
                <a16:creationId xmlns:a16="http://schemas.microsoft.com/office/drawing/2014/main" id="{58961186-0E57-4F3B-904B-261DB2D6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拥堵</a:t>
            </a:r>
          </a:p>
        </p:txBody>
      </p:sp>
      <p:sp>
        <p:nvSpPr>
          <p:cNvPr id="14" name="text-48">
            <a:extLst xmlns:a="http://schemas.openxmlformats.org/drawingml/2006/main">
              <a:ext uri="{FF2B5EF4-FFF2-40B4-BE49-F238E27FC236}">
                <a16:creationId xmlns:a16="http://schemas.microsoft.com/office/drawing/2014/main" id="{2364BCB8-D3F9-4CC9-AD95-D37A895D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w_c · L · u</a:t>
            </a:r>
          </a:p>
        </p:txBody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33793B69-0554-4D40-819F-03F9A058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容量越紧代价越高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41F88-C057-4688-A872-80991DC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19C04B8D-4EFE-4396-8495-EDE7E2A8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能耗代理</a:t>
            </a:r>
          </a:p>
        </p:txBody>
      </p:sp>
      <p:sp>
        <p:nvSpPr>
          <p:cNvPr id="18" name="text-51">
            <a:extLst xmlns:a="http://schemas.openxmlformats.org/drawingml/2006/main">
              <a:ext uri="{FF2B5EF4-FFF2-40B4-BE49-F238E27FC236}">
                <a16:creationId xmlns:a16="http://schemas.microsoft.com/office/drawing/2014/main" id="{557F03C5-5493-4A1E-884C-63ADCAE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w_e · (L + 4H)</a:t>
            </a:r>
          </a:p>
        </p:txBody>
      </p:sp>
      <p:sp>
        <p:nvSpPr>
          <p:cNvPr id="19" name="text-52">
            <a:extLst xmlns:a="http://schemas.openxmlformats.org/drawingml/2006/main">
              <a:ext uri="{FF2B5EF4-FFF2-40B4-BE49-F238E27FC236}">
                <a16:creationId xmlns:a16="http://schemas.microsoft.com/office/drawing/2014/main" id="{6779CC3F-04FE-462D-8A3A-9D42B46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显式惩罚爬升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5585A-A6D0-48DA-9760-852175ED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3">
            <a:extLst xmlns:a="http://schemas.openxmlformats.org/drawingml/2006/main">
              <a:ext uri="{FF2B5EF4-FFF2-40B4-BE49-F238E27FC236}">
                <a16:creationId xmlns:a16="http://schemas.microsoft.com/office/drawing/2014/main" id="{A88B5401-D051-42B0-BEEC-4303153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气象</a:t>
            </a:r>
          </a:p>
        </p:txBody>
      </p: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D73BC847-3574-4C22-9977-2873DED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w_w · L · p_w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6AE01219-8AB3-470F-9FAE-94242338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逆风、横风、降水与能见度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8AA29-B919-4340-B1A2-70D1DD0D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47D6A29D-27CF-436F-9AED-3DDBA2A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默认权重  (w_d, w_r, w_c, w_e, w_w) = (1, 2, 1.5, 0.8, 3)</a:t>
            </a:r>
          </a:p>
        </p:txBody>
      </p:sp>
      <p:sp>
        <p:nvSpPr>
          <p:cNvPr id="26" name="text-57">
            <a:extLst xmlns:a="http://schemas.openxmlformats.org/drawingml/2006/main">
              <a:ext uri="{FF2B5EF4-FFF2-40B4-BE49-F238E27FC236}">
                <a16:creationId xmlns:a16="http://schemas.microsoft.com/office/drawing/2014/main" id="{9E172A24-8721-4294-A959-252F9E4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能耗为路线比较代理值；爬升系数 4 是工程假设，不等于电池电量</a:t>
            </a:r>
          </a:p>
        </p:txBody>
      </p:sp>
    </p:spTree>
    <p:extLst>
      <p:ext uri="{BB962C8B-B14F-4D97-AF65-F5344CB8AC3E}">
        <p14:creationId xmlns:p14="http://schemas.microsoft.com/office/powerpoint/2010/main" val="1143839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3BB0FE-2CB3-4744-8A7D-0BE733F0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硬约束先筛边，启发值再保证搜索方向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43A2720-3666-462B-BF13-4C331FF9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8319F8AE-1E3F-4869-B3D9-D993DD71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不可行航段在搜索前剔除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C07FF-C7E2-4FAE-8EB5-D031B93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9C81F74C-C90A-487D-9173-E80A33A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479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封闭航段、显式 blocked 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45424-8C80-45D3-988D-DAD2D80E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0">
            <a:extLst xmlns:a="http://schemas.openxmlformats.org/drawingml/2006/main">
              <a:ext uri="{FF2B5EF4-FFF2-40B4-BE49-F238E27FC236}">
                <a16:creationId xmlns:a16="http://schemas.microsoft.com/office/drawing/2014/main" id="{20C62F4C-02B0-4444-AA26-8095064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流量已达容量上限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0D15B-6E3D-4ADB-99D9-9619429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1">
            <a:extLst xmlns:a="http://schemas.openxmlformats.org/drawingml/2006/main">
              <a:ext uri="{FF2B5EF4-FFF2-40B4-BE49-F238E27FC236}">
                <a16:creationId xmlns:a16="http://schemas.microsoft.com/office/drawing/2014/main" id="{F05D2246-978E-4FEF-9A8D-983804C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147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穿过建筑、城市边界或低于地面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3FDDE-3D2F-4F66-8C13-DEC974A6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2">
            <a:extLst xmlns:a="http://schemas.openxmlformats.org/drawingml/2006/main">
              <a:ext uri="{FF2B5EF4-FFF2-40B4-BE49-F238E27FC236}">
                <a16:creationId xmlns:a16="http://schemas.microsoft.com/office/drawing/2014/main" id="{AEF65DE5-1048-460E-886C-8E4227E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481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与激活三维管制区相交（含边界接触）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1F76F-E341-4CBC-A78F-EBEFB400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063A9C39-9FCE-4783-BB12-E9B0B65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水平投影穿越雷暴区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1459E-1CF4-4D01-8A9B-96E827FE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668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26BF9ADF-3044-4725-A24F-73B3BE27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57350"/>
            <a:ext cx="3943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可采纳的 A* 启发值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0FA9AA76-D2ED-44B0-ADAB-66015EBE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76475"/>
            <a:ext cx="3943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h(n) = w_d × d₃ᴅ(n, goal) / 1000</a:t>
            </a:r>
          </a:p>
        </p:txBody>
      </p:sp>
      <p:sp>
        <p:nvSpPr>
          <p:cNvPr id="17" name="text-66">
            <a:extLst xmlns:a="http://schemas.openxmlformats.org/drawingml/2006/main">
              <a:ext uri="{FF2B5EF4-FFF2-40B4-BE49-F238E27FC236}">
                <a16:creationId xmlns:a16="http://schemas.microsoft.com/office/drawing/2014/main" id="{A348446F-0874-4FEB-934D-8F5537C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每条边的距离不短于端点直线距离，其余代价非负，因此 h 不会高估剩余成本。</a:t>
            </a:r>
          </a:p>
        </p:txBody>
      </p:sp>
      <p:sp>
        <p:nvSpPr>
          <p:cNvPr id="18" name="text-67">
            <a:extLst xmlns:a="http://schemas.openxmlformats.org/drawingml/2006/main">
              <a:ext uri="{FF2B5EF4-FFF2-40B4-BE49-F238E27FC236}">
                <a16:creationId xmlns:a16="http://schemas.microsoft.com/office/drawing/2014/main" id="{19F4474F-4318-4D4D-A017-2201DCEB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862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最优性范围</a:t>
            </a:r>
          </a:p>
        </p:txBody>
      </p:sp>
      <p:sp>
        <p:nvSpPr>
          <p:cNvPr id="19" name="text-68">
            <a:extLst xmlns:a="http://schemas.openxmlformats.org/drawingml/2006/main">
              <a:ext uri="{FF2B5EF4-FFF2-40B4-BE49-F238E27FC236}">
                <a16:creationId xmlns:a16="http://schemas.microsoft.com/office/drawing/2014/main" id="{272DA869-AF2D-4201-B9F3-9F37D61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700"/>
            <a:ext cx="386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当前快照中通过硬约束的图及加权目标；不代表连续空间全局最优。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55138-E747-4569-BCB3-0C22F5D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69">
            <a:extLst xmlns:a="http://schemas.openxmlformats.org/drawingml/2006/main">
              <a:ext uri="{FF2B5EF4-FFF2-40B4-BE49-F238E27FC236}">
                <a16:creationId xmlns:a16="http://schemas.microsoft.com/office/drawing/2014/main" id="{54067B80-FCB9-4205-BC0E-1C9C82F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航程超限时：同一可行图上回退到最短距离 Dijkstra，并标注该结果不保证航程约束下的加权最优。</a:t>
            </a:r>
          </a:p>
        </p:txBody>
      </p:sp>
    </p:spTree>
    <p:extLst>
      <p:ext uri="{BB962C8B-B14F-4D97-AF65-F5344CB8AC3E}">
        <p14:creationId xmlns:p14="http://schemas.microsoft.com/office/powerpoint/2010/main" val="19508329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0C8AAE-CF06-4095-9DD7-72B03E9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连续时空冲突检测：判断间隔何时首次失守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5D5953A-CF29-403C-B1EC-20F1EFA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70">
            <a:extLst xmlns:a="http://schemas.openxmlformats.org/drawingml/2006/main">
              <a:ext uri="{FF2B5EF4-FFF2-40B4-BE49-F238E27FC236}">
                <a16:creationId xmlns:a16="http://schemas.microsoft.com/office/drawing/2014/main" id="{F8E6BD46-F3C7-452D-9979-346DF7F9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默认预测窗 10 s  ·  水平间隔 30 m  ·  垂直间隔 15 m</a:t>
            </a:r>
          </a:p>
        </p:txBody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85B5F5E4-10FA-4329-B807-BF23CF70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01  粗筛候选</a:t>
            </a:r>
          </a:p>
        </p:txBody>
      </p:sp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FF503D69-8B5F-4C74-9D72-6B6FDE2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用整段轨迹的扫掠包围盒</a:t>
            </a:r>
          </a:p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快速排除不可能相遇的飞机对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0E32C090-9739-408E-AA92-2FF913C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431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40131AAA-60D1-4F6F-BD65-A7A7FE64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622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02  对齐时间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6B332CF6-B1B1-4469-846E-B567311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099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仅在两条分段线性轨迹</a:t>
            </a:r>
          </a:p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共同覆盖的时间段内插值</a:t>
            </a:r>
          </a:p>
        </p:txBody>
      </p:sp>
      <p:sp>
        <p:nvSpPr>
          <p:cNvPr id="9" name="text-76">
            <a:extLst xmlns:a="http://schemas.openxmlformats.org/drawingml/2006/main">
              <a:ext uri="{FF2B5EF4-FFF2-40B4-BE49-F238E27FC236}">
                <a16:creationId xmlns:a16="http://schemas.microsoft.com/office/drawing/2014/main" id="{3538934B-3164-48EA-A459-0C730A9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text-77">
            <a:extLst xmlns:a="http://schemas.openxmlformats.org/drawingml/2006/main">
              <a:ext uri="{FF2B5EF4-FFF2-40B4-BE49-F238E27FC236}">
                <a16:creationId xmlns:a16="http://schemas.microsoft.com/office/drawing/2014/main" id="{BD49E91B-90A0-48B3-96FD-FA9E9CA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03  求首次进入</a:t>
            </a:r>
          </a:p>
        </p:txBody>
      </p:sp>
      <p:sp>
        <p:nvSpPr>
          <p:cNvPr id="11" name="text-78">
            <a:extLst xmlns:a="http://schemas.openxmlformats.org/drawingml/2006/main">
              <a:ext uri="{FF2B5EF4-FFF2-40B4-BE49-F238E27FC236}">
                <a16:creationId xmlns:a16="http://schemas.microsoft.com/office/drawing/2014/main" id="{3911BC03-8386-47BD-8566-A6331FE2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解水平距离二次不等式</a:t>
            </a:r>
          </a:p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与垂直距离线性区间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A2BEE-0606-446B-BD88-8969AEF3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3E72C00D-F141-473B-ACEB-7214D836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只有在同一绝对时刻满足水平距离 ≤ 30 m 且垂直距离 ≤ 15 m，才报告预测冲突</a:t>
            </a:r>
          </a:p>
        </p:txBody>
      </p:sp>
      <p:sp>
        <p:nvSpPr>
          <p:cNvPr id="14" name="text-80">
            <a:extLst xmlns:a="http://schemas.openxmlformats.org/drawingml/2006/main">
              <a:ext uri="{FF2B5EF4-FFF2-40B4-BE49-F238E27FC236}">
                <a16:creationId xmlns:a16="http://schemas.microsoft.com/office/drawing/2014/main" id="{BD49D9FE-1860-400A-8526-F24AF934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48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先取交叠区间，再求区间交集：避免只在离散仿真步采样而漏掉步间相遇</a:t>
            </a:r>
          </a:p>
        </p:txBody>
      </p:sp>
    </p:spTree>
    <p:extLst>
      <p:ext uri="{BB962C8B-B14F-4D97-AF65-F5344CB8AC3E}">
        <p14:creationId xmlns:p14="http://schemas.microsoft.com/office/powerpoint/2010/main" val="162289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DF225C-1749-4CC7-927C-53EBC81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规则解脱：候选动作必须通过全机安全复检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A43628-73F1-4845-AF72-6535B906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81">
            <a:extLst xmlns:a="http://schemas.openxmlformats.org/drawingml/2006/main">
              <a:ext uri="{FF2B5EF4-FFF2-40B4-BE49-F238E27FC236}">
                <a16:creationId xmlns:a16="http://schemas.microsoft.com/office/drawing/2014/main" id="{8911975B-36E9-41F7-AC41-6076F935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候选动作</a:t>
            </a:r>
          </a:p>
        </p:txBody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7DE97EA9-D832-47CB-A93D-DC269DD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调速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8A002A91-1E67-4B3B-BC57-4FD7E38C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38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1525DCBD-3539-4733-A5B8-A54FC8F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调高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C4AF0FAB-1434-487D-B4F1-072CB810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CDAB9C91-8EE6-4ACB-85CA-8D277530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改航</a:t>
            </a:r>
          </a:p>
        </p:txBody>
      </p:sp>
      <p:sp>
        <p:nvSpPr>
          <p:cNvPr id="9" name="text-87">
            <a:extLst xmlns:a="http://schemas.openxmlformats.org/drawingml/2006/main">
              <a:ext uri="{FF2B5EF4-FFF2-40B4-BE49-F238E27FC236}">
                <a16:creationId xmlns:a16="http://schemas.microsoft.com/office/drawing/2014/main" id="{6F94797C-F265-4878-8ECA-CD28B62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DC8554B7-65E7-43D7-9AD6-0230AB4A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延迟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FAB36-298C-4130-BD57-A5E5EA7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89">
            <a:extLst xmlns:a="http://schemas.openxmlformats.org/drawingml/2006/main">
              <a:ext uri="{FF2B5EF4-FFF2-40B4-BE49-F238E27FC236}">
                <a16:creationId xmlns:a16="http://schemas.microsoft.com/office/drawing/2014/main" id="{460EC895-7E54-49A8-9E81-669D60AC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轨迹连续</a:t>
            </a:r>
          </a:p>
        </p:txBody>
      </p:sp>
      <p:sp>
        <p:nvSpPr>
          <p:cNvPr id="13" name="text-90">
            <a:extLst xmlns:a="http://schemas.openxmlformats.org/drawingml/2006/main">
              <a:ext uri="{FF2B5EF4-FFF2-40B4-BE49-F238E27FC236}">
                <a16:creationId xmlns:a16="http://schemas.microsoft.com/office/drawing/2014/main" id="{80B3E2B8-5FFC-443F-A08D-66AAD6E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从决策时刻的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实际位置衔接</a:t>
            </a:r>
          </a:p>
        </p:txBody>
      </p:sp>
      <p:sp>
        <p:nvSpPr>
          <p:cNvPr id="14" name="text-91">
            <a:extLst xmlns:a="http://schemas.openxmlformats.org/drawingml/2006/main">
              <a:ext uri="{FF2B5EF4-FFF2-40B4-BE49-F238E27FC236}">
                <a16:creationId xmlns:a16="http://schemas.microsoft.com/office/drawing/2014/main" id="{C4C95EE1-AE80-4CB3-8AD9-DCE5121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00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-92">
            <a:extLst xmlns:a="http://schemas.openxmlformats.org/drawingml/2006/main">
              <a:ext uri="{FF2B5EF4-FFF2-40B4-BE49-F238E27FC236}">
                <a16:creationId xmlns:a16="http://schemas.microsoft.com/office/drawing/2014/main" id="{9393FC09-941F-473C-9235-B8B03EC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硬约束过滤</a:t>
            </a:r>
          </a:p>
        </p:txBody>
      </p:sp>
      <p:sp>
        <p:nvSpPr>
          <p:cNvPr id="16" name="text-93">
            <a:extLst xmlns:a="http://schemas.openxmlformats.org/drawingml/2006/main">
              <a:ext uri="{FF2B5EF4-FFF2-40B4-BE49-F238E27FC236}">
                <a16:creationId xmlns:a16="http://schemas.microsoft.com/office/drawing/2014/main" id="{2DAF9D7A-EF99-4517-8AF9-C35B681E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剔除不可行或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未覆盖预测窗候选</a:t>
            </a:r>
          </a:p>
        </p:txBody>
      </p: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4F5B7EAA-2E3E-4B61-97A7-B3F2BFFA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00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text-95">
            <a:extLst xmlns:a="http://schemas.openxmlformats.org/drawingml/2006/main">
              <a:ext uri="{FF2B5EF4-FFF2-40B4-BE49-F238E27FC236}">
                <a16:creationId xmlns:a16="http://schemas.microsoft.com/office/drawing/2014/main" id="{A0B4436C-11E8-4EE9-ADCE-6405076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全机复检</a:t>
            </a:r>
          </a:p>
        </p:txBody>
      </p:sp>
      <p:sp>
        <p:nvSpPr>
          <p:cNvPr id="19" name="text-96">
            <a:extLst xmlns:a="http://schemas.openxmlformats.org/drawingml/2006/main">
              <a:ext uri="{FF2B5EF4-FFF2-40B4-BE49-F238E27FC236}">
                <a16:creationId xmlns:a16="http://schemas.microsoft.com/office/drawing/2014/main" id="{9AF6F2A7-DAD1-4631-9931-5DB6D9B8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只替换一架轨迹，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与其余飞机逐一检测</a:t>
            </a:r>
          </a:p>
        </p:txBody>
      </p:sp>
      <p:sp>
        <p:nvSpPr>
          <p:cNvPr id="20" name="text-97">
            <a:extLst xmlns:a="http://schemas.openxmlformats.org/drawingml/2006/main">
              <a:ext uri="{FF2B5EF4-FFF2-40B4-BE49-F238E27FC236}">
                <a16:creationId xmlns:a16="http://schemas.microsoft.com/office/drawing/2014/main" id="{701010AE-7F4C-4766-844E-103A007D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00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text-98">
            <a:extLst xmlns:a="http://schemas.openxmlformats.org/drawingml/2006/main">
              <a:ext uri="{FF2B5EF4-FFF2-40B4-BE49-F238E27FC236}">
                <a16:creationId xmlns:a16="http://schemas.microsoft.com/office/drawing/2014/main" id="{0CD1C1B5-247B-40D3-95C5-201DEB35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代价排序</a:t>
            </a:r>
          </a:p>
        </p:txBody>
      </p:sp>
      <p:sp>
        <p:nvSpPr>
          <p:cNvPr id="22" name="text-99">
            <a:extLst xmlns:a="http://schemas.openxmlformats.org/drawingml/2006/main">
              <a:ext uri="{FF2B5EF4-FFF2-40B4-BE49-F238E27FC236}">
                <a16:creationId xmlns:a16="http://schemas.microsoft.com/office/drawing/2014/main" id="{B04D5E36-D8F4-4FBD-99C1-339090CF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在安全候选中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选择代价最低动作</a:t>
            </a:r>
          </a:p>
        </p:txBody>
      </p:sp>
      <p:sp>
        <p:nvSpPr>
          <p:cNvPr id="23" name="text-100">
            <a:extLst xmlns:a="http://schemas.openxmlformats.org/drawingml/2006/main">
              <a:ext uri="{FF2B5EF4-FFF2-40B4-BE49-F238E27FC236}">
                <a16:creationId xmlns:a16="http://schemas.microsoft.com/office/drawing/2014/main" id="{40ADC4E6-8BEE-42C8-8C80-58958293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J_res = w_delay·Δt + w_energy·ΔE + w_congestion·ΔC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7C8FB-6EA5-4005-90E8-5B29529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01">
            <a:extLst xmlns:a="http://schemas.openxmlformats.org/drawingml/2006/main">
              <a:ext uri="{FF2B5EF4-FFF2-40B4-BE49-F238E27FC236}">
                <a16:creationId xmlns:a16="http://schemas.microsoft.com/office/drawing/2014/main" id="{75775853-8151-4884-92FA-7FAA36B8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062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没有安全候选 → 标记 unresolved 并暂停，绝不为了继续仿真接受冲突</a:t>
            </a:r>
          </a:p>
        </p:txBody>
      </p:sp>
    </p:spTree>
    <p:extLst>
      <p:ext uri="{BB962C8B-B14F-4D97-AF65-F5344CB8AC3E}">
        <p14:creationId xmlns:p14="http://schemas.microsoft.com/office/powerpoint/2010/main" val="1300775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385F0F-FFDE-4657-BA60-D1FCF4E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扰动处置：先保证安全撤离，再继续任务规划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61282C7-5663-47AD-BC61-6E451CB4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02">
            <a:extLst xmlns:a="http://schemas.openxmlformats.org/drawingml/2006/main">
              <a:ext uri="{FF2B5EF4-FFF2-40B4-BE49-F238E27FC236}">
                <a16:creationId xmlns:a16="http://schemas.microsoft.com/office/drawing/2014/main" id="{20E2C83E-0C6E-4521-B56D-E6D40A00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新天气或临时管制覆盖在飞无人机</a:t>
            </a:r>
          </a:p>
        </p:txBody>
      </p:sp>
      <p:sp>
        <p:nvSpPr>
          <p:cNvPr id="4" name="text-103">
            <a:extLst xmlns:a="http://schemas.openxmlformats.org/drawingml/2006/main">
              <a:ext uri="{FF2B5EF4-FFF2-40B4-BE49-F238E27FC236}">
                <a16:creationId xmlns:a16="http://schemas.microsoft.com/office/drawing/2014/main" id="{80A909B6-8440-484A-A994-AA1B61C9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0482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1  从实际位置寻找区域外出口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2  校验建筑碰撞、其他管制区与雷暴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3  连续离开禁区并禁止重新进入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4  到达安全出口后，再规划剩余任务</a:t>
            </a:r>
          </a:p>
        </p:txBody>
      </p:sp>
      <p:sp>
        <p:nvSpPr>
          <p:cNvPr id="5" name="text-104">
            <a:extLst xmlns:a="http://schemas.openxmlformats.org/drawingml/2006/main">
              <a:ext uri="{FF2B5EF4-FFF2-40B4-BE49-F238E27FC236}">
                <a16:creationId xmlns:a16="http://schemas.microsoft.com/office/drawing/2014/main" id="{43A6428C-D144-4E83-89FA-26E24748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无安全出口时告警并暂停该机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E02E3-A040-47E6-A911-9A5614B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57350"/>
            <a:ext cx="9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20391128-2442-484F-A836-D33056B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故障备降</a:t>
            </a:r>
          </a:p>
        </p:txBody>
      </p:sp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D4F106E0-E308-4C02-9831-8FB4047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267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可用航程 = 电量 × 最大航程 × 0.55</a:t>
            </a:r>
          </a:p>
        </p:txBody>
      </p:sp>
      <p:sp>
        <p:nvSpPr>
          <p:cNvPr id="9" name="text-107">
            <a:extLst xmlns:a="http://schemas.openxmlformats.org/drawingml/2006/main">
              <a:ext uri="{FF2B5EF4-FFF2-40B4-BE49-F238E27FC236}">
                <a16:creationId xmlns:a16="http://schemas.microsoft.com/office/drawing/2014/main" id="{2274A85A-5875-4A1F-B5DC-03C244B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4267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先筛掉不可达或无容量的备降点，再按可行路径距离选择最近目标并预留机位。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0995B-CCE0-4794-B164-BA59D67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08">
            <a:extLst xmlns:a="http://schemas.openxmlformats.org/drawingml/2006/main">
              <a:ext uri="{FF2B5EF4-FFF2-40B4-BE49-F238E27FC236}">
                <a16:creationId xmlns:a16="http://schemas.microsoft.com/office/drawing/2014/main" id="{B1C6C929-46F9-47F2-BB65-DFC39D8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固定种子实测案例</a:t>
            </a:r>
          </a:p>
        </p:txBody>
      </p:sp>
      <p:sp>
        <p:nvSpPr>
          <p:cNvPr id="12" name="text-109">
            <a:extLst xmlns:a="http://schemas.openxmlformats.org/drawingml/2006/main">
              <a:ext uri="{FF2B5EF4-FFF2-40B4-BE49-F238E27FC236}">
                <a16:creationId xmlns:a16="http://schemas.microsoft.com/office/drawing/2014/main" id="{1455BD34-3590-4299-A3AD-1828CAB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672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70 s 故障注入  ·  EB-8  ·  171 m 规划距离</a:t>
            </a:r>
          </a:p>
        </p:txBody>
      </p:sp>
      <p:sp>
        <p:nvSpPr>
          <p:cNvPr id="13" name="text-110">
            <a:extLst xmlns:a="http://schemas.openxmlformats.org/drawingml/2006/main">
              <a:ext uri="{FF2B5EF4-FFF2-40B4-BE49-F238E27FC236}">
                <a16:creationId xmlns:a16="http://schemas.microsoft.com/office/drawing/2014/main" id="{519F75D1-B901-447A-955F-208FD077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483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报告记录最终真实抵达备降点</a:t>
            </a:r>
          </a:p>
        </p:txBody>
      </p:sp>
    </p:spTree>
    <p:extLst>
      <p:ext uri="{BB962C8B-B14F-4D97-AF65-F5344CB8AC3E}">
        <p14:creationId xmlns:p14="http://schemas.microsoft.com/office/powerpoint/2010/main" val="100280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DE2554-E89B-4413-8E64-0B6D8B5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固定种子仿真：100 架机在动态事件中持续运行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D3E38D9-278C-4B76-9FE8-AAC6DE29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11">
            <a:extLst xmlns:a="http://schemas.openxmlformats.org/drawingml/2006/main">
              <a:ext uri="{FF2B5EF4-FFF2-40B4-BE49-F238E27FC236}">
                <a16:creationId xmlns:a16="http://schemas.microsoft.com/office/drawing/2014/main" id="{8A381D5F-A1FF-4FF0-82AC-3277B1EE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seed = 42  ·  459 s 仿真  ·  779 条航路</a:t>
            </a:r>
          </a:p>
        </p:txBody>
      </p:sp>
      <p:sp>
        <p:nvSpPr>
          <p:cNvPr id="4" name="text-112">
            <a:extLst xmlns:a="http://schemas.openxmlformats.org/drawingml/2006/main">
              <a:ext uri="{FF2B5EF4-FFF2-40B4-BE49-F238E27FC236}">
                <a16:creationId xmlns:a16="http://schemas.microsoft.com/office/drawing/2014/main" id="{44E7C4F7-AE52-4650-AE84-41ABF00B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99 / 100</a:t>
            </a:r>
          </a:p>
        </p:txBody>
      </p:sp>
      <p:sp>
        <p:nvSpPr>
          <p:cNvPr id="5" name="text-113">
            <a:extLst xmlns:a="http://schemas.openxmlformats.org/drawingml/2006/main">
              <a:ext uri="{FF2B5EF4-FFF2-40B4-BE49-F238E27FC236}">
                <a16:creationId xmlns:a16="http://schemas.microsoft.com/office/drawing/2014/main" id="{FAA23B7A-193E-4681-9C12-275369B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到达原任务目的地</a:t>
            </a:r>
          </a:p>
        </p:txBody>
      </p:sp>
      <p:sp>
        <p:nvSpPr>
          <p:cNvPr id="6" name="text-114">
            <a:extLst xmlns:a="http://schemas.openxmlformats.org/drawingml/2006/main">
              <a:ext uri="{FF2B5EF4-FFF2-40B4-BE49-F238E27FC236}">
                <a16:creationId xmlns:a16="http://schemas.microsoft.com/office/drawing/2014/main" id="{085A9648-40A1-47F7-96A4-14D71AEA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95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1 架</a:t>
            </a:r>
          </a:p>
        </p:txBody>
      </p:sp>
      <p:sp>
        <p:nvSpPr>
          <p:cNvPr id="7" name="text-115">
            <a:extLst xmlns:a="http://schemas.openxmlformats.org/drawingml/2006/main">
              <a:ext uri="{FF2B5EF4-FFF2-40B4-BE49-F238E27FC236}">
                <a16:creationId xmlns:a16="http://schemas.microsoft.com/office/drawing/2014/main" id="{7972C9D2-FA2F-4A38-BC84-8049981A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098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真实备降并抵达</a:t>
            </a:r>
          </a:p>
        </p:txBody>
      </p:sp>
      <p:sp>
        <p:nvSpPr>
          <p:cNvPr id="8" name="text-116">
            <a:extLst xmlns:a="http://schemas.openxmlformats.org/drawingml/2006/main">
              <a:ext uri="{FF2B5EF4-FFF2-40B4-BE49-F238E27FC236}">
                <a16:creationId xmlns:a16="http://schemas.microsoft.com/office/drawing/2014/main" id="{8C7449FE-3FA3-4454-A443-D973DD20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30 次</a:t>
            </a:r>
          </a:p>
        </p:txBody>
      </p:sp>
      <p:sp>
        <p:nvSpPr>
          <p:cNvPr id="9" name="text-117">
            <a:extLst xmlns:a="http://schemas.openxmlformats.org/drawingml/2006/main">
              <a:ext uri="{FF2B5EF4-FFF2-40B4-BE49-F238E27FC236}">
                <a16:creationId xmlns:a16="http://schemas.microsoft.com/office/drawing/2014/main" id="{C457EE1E-3BEA-456F-90F5-A4653B6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冲突规则解脱</a:t>
            </a:r>
          </a:p>
        </p:txBody>
      </p:sp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DE20B8CD-0405-4ACA-8D97-E4B7C3A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766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text-119">
            <a:extLst xmlns:a="http://schemas.openxmlformats.org/drawingml/2006/main">
              <a:ext uri="{FF2B5EF4-FFF2-40B4-BE49-F238E27FC236}">
                <a16:creationId xmlns:a16="http://schemas.microsoft.com/office/drawing/2014/main" id="{17C5EFC0-1E34-414E-9569-9398F8F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910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最终剩余冲突</a:t>
            </a:r>
          </a:p>
        </p:txBody>
      </p:sp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AB229451-D2C7-47ED-A08B-C1BEEA8A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事件处理计数（架 / 次）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638800" y="2228850"/>
          <a:ext xmlns:a="http://schemas.openxmlformats.org/drawingml/2006/main" cx="57912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f4b42c5bee4e2e"/>
          </a:graphicData>
        </a:graphic>
      </p:graphicFrame>
    </p:spTree>
    <p:extLst>
      <p:ext uri="{BB962C8B-B14F-4D97-AF65-F5344CB8AC3E}">
        <p14:creationId xmlns:p14="http://schemas.microsoft.com/office/powerpoint/2010/main" val="1958769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71CE30-C9E4-43B8-AADE-B0CB57B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方案定位：可解释的安全闭环，清楚标注工程边界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0BAFFFB-DE69-4EDA-90A0-B415A2AB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21">
            <a:extLst xmlns:a="http://schemas.openxmlformats.org/drawingml/2006/main">
              <a:ext uri="{FF2B5EF4-FFF2-40B4-BE49-F238E27FC236}">
                <a16:creationId xmlns:a16="http://schemas.microsoft.com/office/drawing/2014/main" id="{6EF9F51F-DD29-457D-91A9-3D3646B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路线规划</a:t>
            </a:r>
          </a:p>
        </p:txBody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E9918C1A-DB0D-48C7-9299-F0BEEADA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20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五项加权 A*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精确硬约束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返回代价分解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7EF10-2EAC-4FF9-825E-62CE6971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24025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2AC03041-0C8D-4A97-B36D-A452E987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冲突管理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211372B1-5CBA-4845-97BC-DE1D5C7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57425"/>
            <a:ext cx="320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连续轨迹检测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候选动作比较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全机安全复检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5FB56-C0B3-4710-8CFC-8673EF5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24025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79B1A444-2B70-4DB6-8F05-6933F101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动态响应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8FB57718-730B-45E7-93F7-9DD6753D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20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事件触发重规划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危险区先撤离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故障机真实备降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DEE6B-8108-48FA-A426-A342847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27">
            <a:extLst xmlns:a="http://schemas.openxmlformats.org/drawingml/2006/main">
              <a:ext uri="{FF2B5EF4-FFF2-40B4-BE49-F238E27FC236}">
                <a16:creationId xmlns:a16="http://schemas.microsoft.com/office/drawing/2014/main" id="{75D5824B-1285-4B71-A637-8B347D1A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238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当前模型边界</a:t>
            </a:r>
          </a:p>
        </p:txBody>
      </p:sp>
      <p:sp>
        <p:nvSpPr>
          <p:cNvPr id="13" name="text-128">
            <a:extLst xmlns:a="http://schemas.openxmlformats.org/drawingml/2006/main">
              <a:ext uri="{FF2B5EF4-FFF2-40B4-BE49-F238E27FC236}">
                <a16:creationId xmlns:a16="http://schemas.microsoft.com/office/drawing/2014/main" id="{0E79EED0-8236-4DDC-A0FE-27C8D58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能耗为几何代理；冲突候选对枚举为 O(N²)；航程约束下多标签最优搜索与已训练 GNN / 强化学习模型尚未实现。</a:t>
            </a:r>
          </a:p>
        </p:txBody>
      </p:sp>
      <p:sp>
        <p:nvSpPr>
          <p:cNvPr id="14" name="text-129">
            <a:extLst xmlns:a="http://schemas.openxmlformats.org/drawingml/2006/main">
              <a:ext uri="{FF2B5EF4-FFF2-40B4-BE49-F238E27FC236}">
                <a16:creationId xmlns:a16="http://schemas.microsoft.com/office/drawing/2014/main" id="{BC4FCF63-031A-406B-BD2A-5698ED7B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后续可替换方向：空间索引、物理能耗模型、资源约束路径搜索；保持统一输入输出接口。</a:t>
            </a:r>
          </a:p>
        </p:txBody>
      </p:sp>
    </p:spTree>
    <p:extLst>
      <p:ext uri="{BB962C8B-B14F-4D97-AF65-F5344CB8AC3E}">
        <p14:creationId xmlns:p14="http://schemas.microsoft.com/office/powerpoint/2010/main" val="95689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2026-09-24T10:32:55.8440000Z</dcterms:created>
  <dcterms:modified xsi:type="dcterms:W3CDTF">2026-09-24T10:32:55.8440000Z</dcterms:modified>
</coreProperties>
</file>