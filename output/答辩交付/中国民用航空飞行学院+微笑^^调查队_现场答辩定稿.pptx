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64776a390f487d" /><Relationship Type="http://schemas.openxmlformats.org/officeDocument/2006/relationships/extended-properties" Target="/docProps/app.xml" Id="Re60266270e9c4c66" /><Relationship Type="http://schemas.openxmlformats.org/officeDocument/2006/relationships/officeDocument" Target="/ppt/presentation.xml" Id="R09f2ddb905964a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8dec5a9bc34a32"/>
  </p:sldMasterIdLst>
  <p:notesMasterIdLst>
    <p:notesMasterId xmlns:r="http://schemas.openxmlformats.org/officeDocument/2006/relationships" r:id="Rff171a671fb04dff"/>
  </p:notesMasterIdLst>
  <p:sldIdLst>
    <p:sldId xmlns:r="http://schemas.openxmlformats.org/officeDocument/2006/relationships" id="256" r:id="Rda2fb6e0b61d461c"/>
    <p:sldId xmlns:r="http://schemas.openxmlformats.org/officeDocument/2006/relationships" id="257" r:id="R65a04f94dde542be"/>
    <p:sldId xmlns:r="http://schemas.openxmlformats.org/officeDocument/2006/relationships" id="258" r:id="R88196a8a99764b0a"/>
    <p:sldId xmlns:r="http://schemas.openxmlformats.org/officeDocument/2006/relationships" id="259" r:id="R59b05519163d4937"/>
    <p:sldId xmlns:r="http://schemas.openxmlformats.org/officeDocument/2006/relationships" id="260" r:id="Rac288f9b72b243cf"/>
    <p:sldId xmlns:r="http://schemas.openxmlformats.org/officeDocument/2006/relationships" id="261" r:id="R6798f0a63e8548d7"/>
    <p:sldId xmlns:r="http://schemas.openxmlformats.org/officeDocument/2006/relationships" id="262" r:id="Rf1c86fccde2141a5"/>
    <p:sldId xmlns:r="http://schemas.openxmlformats.org/officeDocument/2006/relationships" id="263" r:id="R58ae3fed4f244415"/>
    <p:sldId xmlns:r="http://schemas.openxmlformats.org/officeDocument/2006/relationships" id="264" r:id="R4b8bc486cf694a19"/>
    <p:sldId xmlns:r="http://schemas.openxmlformats.org/officeDocument/2006/relationships" id="265" r:id="R7104d3c436604d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5a0f8d37d94a85" /><Relationship Type="http://schemas.openxmlformats.org/officeDocument/2006/relationships/slideMaster" Target="/ppt/slideMasters/slideMaster1.xml" Id="Rcb8dec5a9bc34a32" /><Relationship Type="http://schemas.openxmlformats.org/officeDocument/2006/relationships/notesMaster" Target="/ppt/notesMasters/notesMaster1.xml" Id="Rff171a671fb04dff" /><Relationship Type="http://schemas.openxmlformats.org/officeDocument/2006/relationships/presProps" Target="/ppt/presProps.xml" Id="R4281a2a0af9249ef" /><Relationship Type="http://schemas.openxmlformats.org/officeDocument/2006/relationships/tableStyles" Target="/ppt/tableStyles.xml" Id="R0ab692070e684e73" /><Relationship Type="http://schemas.openxmlformats.org/officeDocument/2006/relationships/slide" Target="/ppt/slides/slide1.xml" Id="Rda2fb6e0b61d461c" /><Relationship Type="http://schemas.openxmlformats.org/officeDocument/2006/relationships/slide" Target="/ppt/slides/slide2.xml" Id="R65a04f94dde542be" /><Relationship Type="http://schemas.openxmlformats.org/officeDocument/2006/relationships/slide" Target="/ppt/slides/slide3.xml" Id="R88196a8a99764b0a" /><Relationship Type="http://schemas.openxmlformats.org/officeDocument/2006/relationships/slide" Target="/ppt/slides/slide4.xml" Id="R59b05519163d4937" /><Relationship Type="http://schemas.openxmlformats.org/officeDocument/2006/relationships/slide" Target="/ppt/slides/slide5.xml" Id="Rac288f9b72b243cf" /><Relationship Type="http://schemas.openxmlformats.org/officeDocument/2006/relationships/slide" Target="/ppt/slides/slide6.xml" Id="R6798f0a63e8548d7" /><Relationship Type="http://schemas.openxmlformats.org/officeDocument/2006/relationships/slide" Target="/ppt/slides/slide7.xml" Id="Rf1c86fccde2141a5" /><Relationship Type="http://schemas.openxmlformats.org/officeDocument/2006/relationships/slide" Target="/ppt/slides/slide8.xml" Id="R58ae3fed4f244415" /><Relationship Type="http://schemas.openxmlformats.org/officeDocument/2006/relationships/slide" Target="/ppt/slides/slide9.xml" Id="R4b8bc486cf694a19" /><Relationship Type="http://schemas.openxmlformats.org/officeDocument/2006/relationships/slide" Target="/ppt/slides/slide10.xml" Id="R7104d3c436604d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c7d33acee944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ce8fdeac054bc0" /><Relationship Type="http://schemas.openxmlformats.org/officeDocument/2006/relationships/notesMaster" Target="/ppt/notesMasters/notesMaster1.xml" Id="Ra420ed9023514e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d2059ce3ea4907" /><Relationship Type="http://schemas.openxmlformats.org/officeDocument/2006/relationships/notesMaster" Target="/ppt/notesMasters/notesMaster1.xml" Id="R6a2b9d4f9fb84c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bb1c2c942d4365" /><Relationship Type="http://schemas.openxmlformats.org/officeDocument/2006/relationships/notesMaster" Target="/ppt/notesMasters/notesMaster1.xml" Id="R25f7f8f7d46b44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b12db8c05a4b26" /><Relationship Type="http://schemas.openxmlformats.org/officeDocument/2006/relationships/notesMaster" Target="/ppt/notesMasters/notesMaster1.xml" Id="Rd979f3b2d08641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f9f000a67146e4" /><Relationship Type="http://schemas.openxmlformats.org/officeDocument/2006/relationships/notesMaster" Target="/ppt/notesMasters/notesMaster1.xml" Id="R8b30c388d89946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855b27f90c48f0" /><Relationship Type="http://schemas.openxmlformats.org/officeDocument/2006/relationships/notesMaster" Target="/ppt/notesMasters/notesMaster1.xml" Id="R00d47ef24b1245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f4f96f7b844b34" /><Relationship Type="http://schemas.openxmlformats.org/officeDocument/2006/relationships/notesMaster" Target="/ppt/notesMasters/notesMaster1.xml" Id="R16374b40eda94c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a75406679b4e07" /><Relationship Type="http://schemas.openxmlformats.org/officeDocument/2006/relationships/notesMaster" Target="/ppt/notesMasters/notesMaster1.xml" Id="Rb3cbb37965a143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160e1f776d4ee1" /><Relationship Type="http://schemas.openxmlformats.org/officeDocument/2006/relationships/notesMaster" Target="/ppt/notesMasters/notesMaster1.xml" Id="Rcb2b1c122a284e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52af3e94ba40f7" /><Relationship Type="http://schemas.openxmlformats.org/officeDocument/2006/relationships/notesMaster" Target="/ppt/notesMasters/notesMaster1.xml" Id="R0609fcf05ba344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0:00-0:15。各位评委好，我是陈奕冰，来自中国民用航空飞行学院微笑^^调查队。作品天枢智航是一套城市低空交通规划与自主协同仿真系统。今天展示动态扰动下的航路规划、安全处置与可核查运行记录。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0:15-0:45。城市低空规划不能只找最短路。建筑、临时管制和雷暴决定能否飞，容量与任务压力影响效率，多架飞行器还可能在未来几秒相遇。我们把可行性、路线代价和冲突处置放在同一运行闭环。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0:45-1:20。系统从三维城市与任务读取一致快照，先过滤不可飞航段，再规划航路。仿真引擎逐步推进飞机，事件注入后重规划；服务端通过 WebSocket 把状态传给三维控制台，图表与事件结果都来自真实仿真快照。来源：docs/architecture.md、docs/demo.md。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1:20-2:10。规划器先剔除建筑碰撞、关闭空域、雷暴和超容量航段，再在可行图上最小化距离、风险、拥堵、爬升能耗代理和天气五项代价。默认权重为 1、2、1.5、0.8、3。启发值只使用三维直线距离的距离项，因此在本快照可行图上不会高估剩余代价。航程超限回退不保证加权最优。来源：docs/path-planning.md、backend/config/settings.py。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2:10-2:55。默认 10 秒预测窗内，对分段线性轨迹计算共同时间区间。只有同一时刻水平距离不大于 30 米且垂直距离不大于 15 米才判冲突。调速、调高、改航、延迟候选都从实际位置连续衔接，并对全机复检。没有安全候选则暂停运行。阈值是仿真默认值，并非法规标准。来源：simulation/engine/safety.py、backend/config/settings.py。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55-3:55。现场选择一个单项事件。例如雷暴或管制覆盖在飞飞机，系统先让区内飞机撤离，再沿新航路继续任务；故障场景把飞机真正推进至备降点。右侧为实时指标，底部事件可展开处置结果。截图为本地程序化仿真城市，不是真实空域。来源：本地控制台、docs/demo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3:55-4:35。seed=42 的 100 机完整演示在 459 个仿真秒结束。99 项任务抵达原目的地，1 架故障机实际备降，记录 30 次规则解脱，最终剩余冲突 0。累计实际飞行 305.09 公里。这里是一次可复现实测，不是跨场景安全保证。来源：data/demo_report.json。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35-5:00。已交付可运行的算法、仿真、服务、控制台和报告。能耗与天气仍是工程代理模型；地面车辆协同和赛事指定仿真平台接口没有完成。真实试点必须引入经核验的空域、气象、机型数据，在适用许可与安全管理要求下验证。来源：README.md、docs/architecture.md、中国民航局《无人驾驶航空器飞行管理暂行条例》《民用无人驾驶航空器运行安全管理规则》。https://www.caac.gov.cn/XXGK/XXGK/FLFG/202401/t20240115_222642.html；https://app.caac.gov.cn/XXGK/XXGK/MHGZ/202401/t20240103_222566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专家问答备查。来源：backend/config/settings.py、docs/path-planning.md。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专家问答备查。说明：100 机结果为固定种子一次运行；无已训练 AI 决策器，地面车辆协同未完成。来源：data/demo_report.json、docs/demo.md、README.md。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91ef9d8d2b41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8948892220446a" /><Relationship Type="http://schemas.openxmlformats.org/officeDocument/2006/relationships/slideLayout" Target="/ppt/slideLayouts/slideLayout1.xml" Id="Rfdca818c06b440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ca818c06b440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4ea42d0ce4d85" /><Relationship Type="http://schemas.openxmlformats.org/officeDocument/2006/relationships/notesSlide" Target="/ppt/notesSlides/notesSlide1.xml" Id="Re2a3d6d9f99649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1abd353084c1b" /><Relationship Type="http://schemas.openxmlformats.org/officeDocument/2006/relationships/notesSlide" Target="/ppt/notesSlides/notesSlide2.xml" Id="R9db65dec7adf40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4cb68c22a44d0" /><Relationship Type="http://schemas.openxmlformats.org/officeDocument/2006/relationships/notesSlide" Target="/ppt/notesSlides/notesSlide3.xml" Id="Rb3651584b19842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8f8ba7c324ff8" /><Relationship Type="http://schemas.openxmlformats.org/officeDocument/2006/relationships/notesSlide" Target="/ppt/notesSlides/notesSlide4.xml" Id="R8c23eb1cf6fd49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44e735d024a49" /><Relationship Type="http://schemas.openxmlformats.org/officeDocument/2006/relationships/notesSlide" Target="/ppt/notesSlides/notesSlide5.xml" Id="R410283298eb445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ee83e12bf44bc" /><Relationship Type="http://schemas.openxmlformats.org/officeDocument/2006/relationships/image" Target="/ppt/media/image.jpeg" Id="Ra924cfdaafea477e" /><Relationship Type="http://schemas.openxmlformats.org/officeDocument/2006/relationships/notesSlide" Target="/ppt/notesSlides/notesSlide6.xml" Id="Rd64ee0982bde44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36b5953be46e3" /><Relationship Type="http://schemas.openxmlformats.org/officeDocument/2006/relationships/notesSlide" Target="/ppt/notesSlides/notesSlide7.xml" Id="R9e46027a862846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fd007c0d64f04" /><Relationship Type="http://schemas.openxmlformats.org/officeDocument/2006/relationships/notesSlide" Target="/ppt/notesSlides/notesSlide8.xml" Id="R1f0cbffd804645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858b39ef14fc1" /><Relationship Type="http://schemas.openxmlformats.org/officeDocument/2006/relationships/notesSlide" Target="/ppt/notesSlides/notesSlide9.xml" Id="R0551fe51647443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e502a9ab845ad" /><Relationship Type="http://schemas.openxmlformats.org/officeDocument/2006/relationships/notesSlide" Target="/ppt/notesSlides/notesSlide10.xml" Id="Rd96a9d020ea142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7591E-F9C9-4B65-B7C1-7DA1240A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62125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天枢智航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4BAB2-F576-4001-BFB3-13D23B2D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9906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rPr>
              <a:t>城市低空交通智能规划与自主协同系统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DC434-A5CB-426F-B14B-3FDCFF39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城市空中交通规划创新赛  |  5 分钟项目讲解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E8783-F142-4962-A05E-5799B741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4475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中国民用航空飞行学院  ·  微笑^^调查队  ·  陈奕冰</a:t>
            </a:r>
          </a:p>
        </p:txBody>
      </p:sp>
    </p:spTree>
    <p:extLst>
      <p:ext uri="{BB962C8B-B14F-4D97-AF65-F5344CB8AC3E}">
        <p14:creationId xmlns:p14="http://schemas.microsoft.com/office/powerpoint/2010/main" val="3891265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BEB08-E714-4DF4-ADEF-2C34C0EA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城市低空运行的三个决策问题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E7B21-3D02-4D1D-BC77-091BD6D1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天枢智航  城市低空交通智能规划与自主协同系统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7BFAB-13AF-4E46-A933-AE777AFF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362A4-F54D-4DBA-A6E5-49A35E5C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300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17E74-00FB-45B2-821E-3DB0F361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90775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哪里可飞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4EF4D-220F-4917-8A1D-0C3398C2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384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建筑与城市边界</a:t>
            </a:r>
          </a:p>
          <a:p xmlns:a="http://schemas.openxmlformats.org/drawingml/2006/main">
            <a:pPr>
              <a:def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空域管制与雷暴</a:t>
            </a:r>
          </a:p>
          <a:p xmlns:a="http://schemas.openxmlformats.org/drawingml/2006/main">
            <a:pPr>
              <a:def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航路容量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AFDCE-EA60-42F6-9693-7927216A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300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90D51-D7EC-41DF-8737-87021572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90775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怎样更优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6B62F-A96A-416E-BC97-78B74E93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384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距离与风险</a:t>
            </a:r>
          </a:p>
          <a:p xmlns:a="http://schemas.openxmlformats.org/drawingml/2006/main">
            <a:pPr>
              <a:def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拥堵与气象</a:t>
            </a:r>
          </a:p>
          <a:p xmlns:a="http://schemas.openxmlformats.org/drawingml/2006/main">
            <a:pPr>
              <a:def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爬升能耗代理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E91A88-059E-4C9D-B390-9DAA536F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24000"/>
            <a:ext cx="300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18875E-71D6-43C6-8A0B-61E07DC0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90775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如何安全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65478-ADDF-4D3C-B855-774CBB82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38475"/>
            <a:ext cx="300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未来轨迹相交</a:t>
            </a:r>
          </a:p>
          <a:p xmlns:a="http://schemas.openxmlformats.org/drawingml/2006/main">
            <a:pPr>
              <a:def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同一时刻双向间隔</a:t>
            </a:r>
          </a:p>
          <a:p xmlns:a="http://schemas.openxmlformats.org/drawingml/2006/main">
            <a:pPr>
              <a:def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可执行的解脱动作</a:t>
            </a:r>
          </a:p>
        </p:txBody>
      </p:sp>
    </p:spTree>
    <p:extLst>
      <p:ext uri="{BB962C8B-B14F-4D97-AF65-F5344CB8AC3E}">
        <p14:creationId xmlns:p14="http://schemas.microsoft.com/office/powerpoint/2010/main" val="1988816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C38C9D-36BC-4000-9D75-65AE5A1A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从环境快照到安全执行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41471-B009-4E83-BAF3-CAA3A369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天枢智航  城市低空交通智能规划与自主协同系统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D1CC2-2BF9-483B-8EC3-B5E92741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54E3B-89B9-4601-AE57-A463E795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D97FB-2449-48FE-A8D0-6E55B7A5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4287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读取一致快照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04541-BE8F-4AC2-BC4A-F1402CF8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57325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航路图、天气、管制、容量、任务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4645A-4481-4DC9-808D-AA65D2C4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2412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0C7CE-1BC8-40B1-8A71-A99B375B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5241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规划安全航路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93931-5908-42C6-9BE5-19F0957D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5270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硬约束筛边，五项加权 A* 输出代价分解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47D1F-67BC-4C05-AB25-6F0CFBF7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3593F-3461-4025-965A-5274BCDC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6195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预测并解脱冲突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00AB3-4029-40E4-9721-E3DE6546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48075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连续轨迹检测，候选动作全机复检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08382E-972B-46FB-BFFB-DF4FE987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148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16626-EA03-45F4-8A05-C9DE541D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148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推进与反馈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F9D89-2DB0-4ABA-85EA-1F5FA6DF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434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实际运动、事件结果、三维看板和报告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EBE6E9-CA6C-4442-A2C5-39EB980A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626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BF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BF77"/>
                </a:solidFill>
                <a:latin typeface="Microsoft YaHei"/>
                <a:ea typeface="Microsoft YaHei"/>
                <a:cs typeface="Microsoft YaHei"/>
              </a:rPr>
              <a:t>算法只读取状态快照；环境变化后再规划、再复检。</a:t>
            </a:r>
          </a:p>
        </p:txBody>
      </p:sp>
    </p:spTree>
    <p:extLst>
      <p:ext uri="{BB962C8B-B14F-4D97-AF65-F5344CB8AC3E}">
        <p14:creationId xmlns:p14="http://schemas.microsoft.com/office/powerpoint/2010/main" val="17088271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CEAEE-9A86-44C8-8186-80876D2A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五项加权 A* 与硬约束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7109B-2CFC-4204-B262-BB8AF8C2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天枢智航  城市低空交通智能规划与自主协同系统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BADD5-45D3-4B16-94C0-9A08CE10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31A8F-1823-42B1-9318-EF935DF5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382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rPr>
              <a:t>先排除不可飞航段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9CC63-2CFE-4AB1-A38C-AC5C2D3F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457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建筑、边界、雷暴</a:t>
            </a:r>
          </a:p>
          <a:p xmlns:a="http://schemas.openxmlformats.org/drawingml/2006/main">
            <a:pPr>
              <a:defRPr sz="1800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临时管制、容量上限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1F0CB-3B3F-4183-B762-EA1F3057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382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rPr>
              <a:t>再比较可行路线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8424D-EE21-497A-8B65-8A57FFA4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4953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距离   风险   拥堵</a:t>
            </a:r>
          </a:p>
          <a:p xmlns:a="http://schemas.openxmlformats.org/drawingml/2006/main">
            <a:pPr>
              <a:defRPr sz="1800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爬升能耗代理   气象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F02DA1-25CA-4402-9516-1D70144D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路径总代价 = 距离 + 风险 + 拥堵 + 能耗代理 + 气象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24793-19E5-49F8-9366-343B1C65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各项分别乘以非负权重  1 / 2 / 1.5 / 0.8 / 3；结果返回代价分解</a:t>
            </a:r>
          </a:p>
        </p:txBody>
      </p:sp>
    </p:spTree>
    <p:extLst>
      <p:ext uri="{BB962C8B-B14F-4D97-AF65-F5344CB8AC3E}">
        <p14:creationId xmlns:p14="http://schemas.microsoft.com/office/powerpoint/2010/main" val="20471439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879FE3-6C00-4AB6-8AA7-3973B299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连续预测与全机安全复检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DCDD1-7870-4FA4-9D83-68FB0390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天枢智航  城市低空交通智能规划与自主协同系统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4BF1E-CD2D-4440-A248-FF6D46F2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A030F-0AA7-4BF7-97C1-0C032BD6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rPr>
              <a:t>10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989AA-DC3D-4AB5-AFB7-957532FF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2476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预测窗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28A60-1A80-4C6F-87F1-0594A5B0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240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30 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EC7EA-D782-4A59-9B33-DDE9E362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76500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水平间隔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0AE0D-C504-46DA-B914-8FB592C7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5240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15 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94EA6-DB78-46EF-824D-29EFF95C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76500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垂直间隔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BA0BA-E645-4710-9638-6D543A6F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433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候选动作：调速 · 调高 · 改航 · 延迟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84C69-4F4C-4FAD-A683-61024EA1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910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BF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BF77"/>
                </a:solidFill>
                <a:latin typeface="Microsoft YaHei"/>
                <a:ea typeface="Microsoft YaHei"/>
                <a:cs typeface="Microsoft YaHei"/>
              </a:rPr>
              <a:t>每个候选都要满足硬约束和全机间距；没有安全解则留痕并暂停。</a:t>
            </a:r>
          </a:p>
        </p:txBody>
      </p:sp>
    </p:spTree>
    <p:extLst>
      <p:ext uri="{BB962C8B-B14F-4D97-AF65-F5344CB8AC3E}">
        <p14:creationId xmlns:p14="http://schemas.microsoft.com/office/powerpoint/2010/main" val="3417277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2373B-5ABD-405F-8561-25FC0D53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现场系统与动态场景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4E9B8-641B-446F-9236-04DE6329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天枢智航  城市低空交通智能规划与自主协同系统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5E3E8-FFA2-4ABE-ACE7-F82ED085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4cfdaafea477e"/>
          <a:stretch xmlns:a="http://schemas.openxmlformats.org/drawingml/2006/main"/>
        </p:blipFill>
        <p:spPr>
          <a:xfrm xmlns:a="http://schemas.openxmlformats.org/drawingml/2006/main">
            <a:off x="870603" y="1381125"/>
            <a:ext cx="6164544" cy="4714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531FF-384F-43AB-A70F-D934200A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71625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rPr>
              <a:t>五个单项场景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CB655-AD53-4B06-93D2-A3E51C13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38375"/>
            <a:ext cx="3429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航路拥堵</a:t>
            </a:r>
          </a:p>
          <a:p xmlns:a="http://schemas.openxmlformats.org/drawingml/2006/main">
            <a:pPr>
              <a:defRPr sz="202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东部雷暴</a:t>
            </a:r>
          </a:p>
          <a:p xmlns:a="http://schemas.openxmlformats.org/drawingml/2006/main">
            <a:pPr>
              <a:defRPr sz="202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临时管制</a:t>
            </a:r>
          </a:p>
          <a:p xmlns:a="http://schemas.openxmlformats.org/drawingml/2006/main">
            <a:pPr>
              <a:defRPr sz="202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故障备降</a:t>
            </a:r>
          </a:p>
          <a:p xmlns:a="http://schemas.openxmlformats.org/drawingml/2006/main">
            <a:pPr>
              <a:defRPr sz="202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两机冲突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91EB3-EA44-4C4A-A34D-17FEEB11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62550"/>
            <a:ext cx="3476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地图、指标、事件记录均由仿真快照驱动。</a:t>
            </a:r>
          </a:p>
        </p:txBody>
      </p:sp>
    </p:spTree>
    <p:extLst>
      <p:ext uri="{BB962C8B-B14F-4D97-AF65-F5344CB8AC3E}">
        <p14:creationId xmlns:p14="http://schemas.microsoft.com/office/powerpoint/2010/main" val="272795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3860D-EA32-49CB-BA5A-CF692527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固定种子 100 机完整演示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8559C-2C60-4528-8505-CF16E0F6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天枢智航  城市低空交通智能规划与自主协同系统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C5826-CB41-4788-893D-94EA0F48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FACBA-78FB-48DC-808D-0B013D28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619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99/100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93718-6399-4270-BD28-06E79461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2619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原任务完成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FF96D-15AB-4450-B6F0-DE5F6D31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95500"/>
            <a:ext cx="2619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17EB4-E2A1-4B95-AC59-223647D5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71825"/>
            <a:ext cx="2619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真实备降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4FE09-67C6-40B7-AD1A-08EB2898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95500"/>
            <a:ext cx="2619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0998A-929D-4E7D-B72F-2E7D776A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71825"/>
            <a:ext cx="2619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规则解脱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71F06-D1AA-47B8-90A6-71FFBD88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95500"/>
            <a:ext cx="2619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45F24E-4F37-4A7C-A25B-1FADB102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71825"/>
            <a:ext cx="2619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最终剩余冲突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DEBF84-830F-4906-94E7-2DB16359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rPr>
              <a:t>seed = 42   ·   459 仿真秒   ·   累计飞行 305.09 km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85CB71-7AF7-47A8-8723-6E1A548F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结果来自 data/demo_report.json 的单次可复现实测。</a:t>
            </a:r>
          </a:p>
        </p:txBody>
      </p:sp>
    </p:spTree>
    <p:extLst>
      <p:ext uri="{BB962C8B-B14F-4D97-AF65-F5344CB8AC3E}">
        <p14:creationId xmlns:p14="http://schemas.microsoft.com/office/powerpoint/2010/main" val="1895496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7D5F2-AD76-42A4-AE0F-8F64481A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工程边界与落地路径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7E7E9-6416-4612-9D20-CCCE87AE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天枢智航  城市低空交通智能规划与自主协同系统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A8F76-3BE2-4F7C-A3DA-E6C79B4F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F1B9B-54F3-46EC-AC63-02B7497B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442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rPr>
              <a:t>已交付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8BFA3-1C25-4461-8D07-8AA1966E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4667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规划与冲突算法</a:t>
            </a:r>
          </a:p>
          <a:p xmlns:a="http://schemas.openxmlformats.org/drawingml/2006/main">
            <a:pPr>
              <a:defRPr sz="187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动态事件仿真</a:t>
            </a:r>
          </a:p>
          <a:p xmlns:a="http://schemas.openxmlformats.org/drawingml/2006/main">
            <a:pPr>
              <a:defRPr sz="187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三维监控与报告</a:t>
            </a:r>
          </a:p>
          <a:p xmlns:a="http://schemas.openxmlformats.org/drawingml/2006/main">
            <a:pPr>
              <a:defRPr sz="187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可复现工程源码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0B2BD-8F87-42DB-A901-3B554F05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76375"/>
            <a:ext cx="433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BF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BF77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227EE-31D5-4FF5-9120-036C0707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接入真实数据与机型模型</a:t>
            </a:r>
          </a:p>
          <a:p xmlns:a="http://schemas.openxmlformats.org/drawingml/2006/main">
            <a:pPr>
              <a:defRPr sz="187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补齐地面车辆协同</a:t>
            </a:r>
          </a:p>
          <a:p xmlns:a="http://schemas.openxmlformats.org/drawingml/2006/main">
            <a:pPr>
              <a:defRPr sz="187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适配赛事指定平台</a:t>
            </a:r>
          </a:p>
          <a:p xmlns:a="http://schemas.openxmlformats.org/drawingml/2006/main">
            <a:pPr>
              <a:defRPr sz="187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完成运行许可与安全论证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4107C-9DB7-4536-8365-9DD4760B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054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当前成果用于竞赛仿真与规划验证，不等同于真实飞行许可。</a:t>
            </a:r>
          </a:p>
        </p:txBody>
      </p:sp>
    </p:spTree>
    <p:extLst>
      <p:ext uri="{BB962C8B-B14F-4D97-AF65-F5344CB8AC3E}">
        <p14:creationId xmlns:p14="http://schemas.microsoft.com/office/powerpoint/2010/main" val="7366421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28C65-29D2-4081-979D-BB1D2017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备查：关键默认参数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A0488-6AFC-4ED8-ADEA-68D83081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专家问答备查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EB375-6276-4150-9BFD-BBEC76F3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FE9AD-46BF-44AB-867C-0086507F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rPr>
              <a:t>规划权重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2D57B-1657-4107-8523-63ACA5AA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24000"/>
            <a:ext cx="790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距离 1  /  风险 2  /  拥堵 1.5  /  能耗 0.8  /  气象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12FD4-9AD2-45E9-8DE5-9CD5E501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241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rPr>
              <a:t>冲突阈值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D0202-5AB0-4681-8FE4-C1975297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24125"/>
            <a:ext cx="790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水平 30 m  /  垂直 15 m  /  预测窗 10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C2237-3D4C-4E9F-B26B-5CECE49A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242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rPr>
              <a:t>仿真步长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D140B-D403-4CA9-B8A1-50FD292A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24250"/>
            <a:ext cx="790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1 仿真秒，默认目标倍率 10×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F3427-7D1B-41A1-A547-2E70374B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rPr>
              <a:t>坐标模型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15308-D862-4908-B97C-9A765848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24375"/>
            <a:ext cx="790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ENU 米制，程序化建筑与分层有向航路</a:t>
            </a:r>
          </a:p>
        </p:txBody>
      </p:sp>
    </p:spTree>
    <p:extLst>
      <p:ext uri="{BB962C8B-B14F-4D97-AF65-F5344CB8AC3E}">
        <p14:creationId xmlns:p14="http://schemas.microsoft.com/office/powerpoint/2010/main" val="18005382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4C348-CEEB-496F-AE5C-FB963A40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备查：结果与能力边界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A94A96-2CCE-46D4-91DE-21867C9A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专家问答备查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53A6A-46AF-4D93-A9F6-53762D46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29847-F28C-401D-8413-4270C5A4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4191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9E1CD"/>
                </a:solidFill>
                <a:latin typeface="Microsoft YaHei"/>
                <a:ea typeface="Microsoft YaHei"/>
                <a:cs typeface="Microsoft YaHei"/>
              </a:rPr>
              <a:t>100 机报告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2BCF7-6167-425A-ABAF-2151C22E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10382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99 项原任务完成；1 架真实备降</a:t>
            </a:r>
          </a:p>
          <a:p xmlns:a="http://schemas.openxmlformats.org/drawingml/2006/main">
            <a:pPr>
              <a:defRPr sz="187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30 次规则解脱；最终剩余冲突 0</a:t>
            </a:r>
          </a:p>
          <a:p xmlns:a="http://schemas.openxmlformats.org/drawingml/2006/main">
            <a:pPr>
              <a:defRPr sz="187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2FAFB"/>
                </a:solidFill>
                <a:latin typeface="Microsoft YaHei"/>
                <a:ea typeface="Microsoft YaHei"/>
                <a:cs typeface="Microsoft YaHei"/>
              </a:rPr>
              <a:t>仿真推进 459 秒，实际耗时约 47.9 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A8B58-24A6-4701-A636-E894A7A4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BF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BF77"/>
                </a:solidFill>
                <a:latin typeface="Microsoft YaHei"/>
                <a:ea typeface="Microsoft YaHei"/>
                <a:cs typeface="Microsoft YaHei"/>
              </a:rPr>
              <a:t>口径说明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FE520-61D6-4451-98E5-BF2E338F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9112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DC1C8"/>
                </a:solidFill>
                <a:latin typeface="Microsoft YaHei"/>
                <a:ea typeface="Microsoft YaHei"/>
                <a:cs typeface="Microsoft YaHei"/>
              </a:rPr>
              <a:t>备降不计入原任务完成。当前能耗和天气为代理模型，无已训练 AI 决策器。</a:t>
            </a:r>
          </a:p>
        </p:txBody>
      </p:sp>
    </p:spTree>
    <p:extLst>
      <p:ext uri="{BB962C8B-B14F-4D97-AF65-F5344CB8AC3E}">
        <p14:creationId xmlns:p14="http://schemas.microsoft.com/office/powerpoint/2010/main" val="19140168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2026-09-24T15:16:20.1440000Z</dcterms:created>
  <dcterms:modified xsi:type="dcterms:W3CDTF">2026-09-24T15:16:20.1440000Z</dcterms:modified>
</coreProperties>
</file>